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29260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F0FF"/>
                </a:solidFill>
                <a:latin typeface="Arial"/>
              </a:defRPr>
            </a:pPr>
            <a:r>
              <a:t>FINAL YEAR B.TECH CAPSTONE DEFENSE • CYBERSECURITY &amp; AI</a:t>
            </a:r>
          </a:p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RansomGuard AI</a:t>
            </a:r>
          </a:p>
          <a:p>
            <a:pPr>
              <a:spcAft>
                <a:spcPts val="2400"/>
              </a:spcAft>
              <a:defRPr sz="2200">
                <a:solidFill>
                  <a:srgbClr val="F43F5E"/>
                </a:solidFill>
                <a:latin typeface="Arial"/>
              </a:defRPr>
            </a:pPr>
            <a:r>
              <a:t>Real-Time AI Ransomware Detection with Explainable AI (TreeSHAP)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Behavioral Telemetry Analysis • Stratified Zero-Leakage Pipeline • Plain-English SOC Interpretability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Domain: Advanced Endpoint Cybersecurity &amp; Applied Machine Learning</a:t>
            </a:r>
            <a:br/>
            <a:r>
              <a:t>Stack: Python, FastAPI, XGBoost, TreeSHAP, React 19, TypeScript, Recharts</a:t>
            </a:r>
            <a:br/>
            <a:r>
              <a:t>Evaluation Model: XGBoost Champion | 100% Detection Rate | Zero False Positives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Problem: Why Traditional Antivirus Fails Against Ransomware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43F5E"/>
                </a:solidFill>
              </a:defRPr>
            </a:pPr>
            <a:r>
              <a:t>1. Static Signatures Fail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Polymorphic Ransomware (LockBit, WannaCry) alters file hashes dynamically.</a:t>
            </a:r>
            <a:br/>
            <a:br/>
            <a:r>
              <a:t>• Attackers pack and encrypt executable headers to bypass signature detection.</a:t>
            </a:r>
            <a:br/>
            <a:br/>
            <a:r>
              <a:t>• Zero-day strains go undetected until days or weeks after initial network infection.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</a:defRPr>
            </a:pPr>
            <a:r>
              <a:t>2. The Black-Box Dilemma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Traditional Machine Learning gives opaque probabilities (e.g. '0.94 Ransomware').</a:t>
            </a:r>
            <a:br/>
            <a:br/>
            <a:r>
              <a:t>• Security Operations Center (SOC) analysts cannot see WHY a process was flagged.</a:t>
            </a:r>
            <a:br/>
            <a:br/>
            <a:r>
              <a:t>• False alarms can accidentally terminate crucial database servers, causing outages.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F0FF"/>
                </a:solidFill>
              </a:defRPr>
            </a:pPr>
            <a:r>
              <a:t>3. Our Solution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Behavioral Telemetry: Monitor physical runtime actions (Shannon entropy, renames, canaries).</a:t>
            </a:r>
            <a:br/>
            <a:br/>
            <a:r>
              <a:t>• TreeSHAP Explainability: Exact mathematical feature attributions (+/- SHAP) in &lt;15ms.</a:t>
            </a:r>
            <a:br/>
            <a:br/>
            <a:r>
              <a:t>• Automated Plain-English Narratives for instant, auditable analyst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System Architecture: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F0FF"/>
                </a:solidFill>
              </a:defRPr>
            </a:pPr>
            <a:r>
              <a:t>1. Behavioral Telemetry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Extracts 12 runtime signals:</a:t>
            </a:r>
            <a:br/>
            <a:r>
              <a:t>• Shannon Entropy Delta</a:t>
            </a:r>
            <a:br/>
            <a:r>
              <a:t>• Mass File Renaming</a:t>
            </a:r>
            <a:br/>
            <a:r>
              <a:t>• Canary File Traps</a:t>
            </a:r>
            <a:br/>
            <a:r>
              <a:t>• Shadow Copy Tampering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43F5E"/>
                </a:solidFill>
              </a:defRPr>
            </a:pPr>
            <a:r>
              <a:t>2. Backend Ingestion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FastAPI Asynchronous Gateway:</a:t>
            </a:r>
            <a:br/>
            <a:r>
              <a:t>• Pydantic v2 Schema Validation</a:t>
            </a:r>
            <a:br/>
            <a:r>
              <a:t>• Anti-leakage Preprocessor</a:t>
            </a:r>
            <a:br/>
            <a:r>
              <a:t>• Zero data leakage scaling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ACC15"/>
                </a:solidFill>
              </a:defRPr>
            </a:pPr>
            <a:r>
              <a:t>3. Champion ML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XGBoost Gradient Boosting:</a:t>
            </a:r>
            <a:br/>
            <a:r>
              <a:t>• Calibrated Risk Score (0-100)</a:t>
            </a:r>
            <a:br/>
            <a:r>
              <a:t>• 5-Tier Severity Classification</a:t>
            </a:r>
            <a:br/>
            <a:r>
              <a:t>• High-throughput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4. Explainable AI (XAI)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TreeSHAP Attribution Engine:</a:t>
            </a:r>
            <a:br/>
            <a:r>
              <a:t>• Exact Shapley decomposition</a:t>
            </a:r>
            <a:br/>
            <a:r>
              <a:t>• Plain-English AI verdicts</a:t>
            </a:r>
            <a:br/>
            <a:r>
              <a:t>• Waterfall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12 Empirical Behavioral Features Monitored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F0FF"/>
                </a:solidFill>
              </a:defRPr>
            </a:pPr>
            <a:r>
              <a:t>Cryptographic Anomaly Signals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entropy_change_mean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Shannon entropy surge (+2.2 to 4.2 bits/byte) caused by AES encryption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process_cpu_usage_burst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Unthrottled CPU spikes (65-100%) during tight encryption loops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file_read_to_write_ratio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Symmetry ratio of read/write bytes approaching 1.0 (read, encrypt, write)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43F5E"/>
                </a:solidFill>
              </a:defRPr>
            </a:pPr>
            <a:r>
              <a:t>Mass Mutation &amp; Destruction Signals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file_rename_rate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Frequency of rename operations (mass extension mutation, e.g. .locked)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suspicious_extension_ratio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Proportion of modified files given ransomware extensions (45-100%)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file_modification_rate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Rate of file write and update operations (25 to 350 files/sec)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rapid_file_deletion_rate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Rate of unlinking/shredding original plaintext files post-encryption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unique_file_extensions_accessed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Diversity of document extensions targeted (.docx, .pdf, .xlsx, .db)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ACC15"/>
                </a:solidFill>
              </a:defRPr>
            </a:pPr>
            <a:r>
              <a:t>Deception &amp; Recovery Tampering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canary_file_modified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Decoy canary sentinel files tampered with in user directories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shadow_copy_access_attempt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Attempts to delete Volume Shadow Copies (vssadmin delete shadows)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ransom_note_detected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Creation of ransom payment demand files (HOW_TO_DECRYPT, README)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directory_traversal_depth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Maximum folder traversal depth (5-16 levels) during disk crawls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DATASET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Empirical Dataset: Grounded Modeling &amp; Zero Data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F0FF"/>
                </a:solidFill>
              </a:defRPr>
            </a:pPr>
            <a:r>
              <a:t>Dataset Composition (4,000 Vectors)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60% Benign Workloads (2,400 samples):</a:t>
            </a:r>
            <a:br/>
            <a:r>
              <a:t>   - Office Productivity (35%)</a:t>
            </a:r>
            <a:br/>
            <a:r>
              <a:t>   - Developer Compilations (25%) [High write &amp; CPU edge cases]</a:t>
            </a:r>
            <a:br/>
            <a:r>
              <a:t>   - Backup Utilities (15%) [High read/write &amp; compressed files]</a:t>
            </a:r>
            <a:br/>
            <a:r>
              <a:t>   - Media Editing / Video Rendering (15%)</a:t>
            </a:r>
            <a:br/>
            <a:r>
              <a:t>   - System Maintenance &amp; Updates (10%)</a:t>
            </a:r>
            <a:br/>
            <a:br/>
            <a:r>
              <a:t>• 40% Ransomware Incursions (1,600 samples):</a:t>
            </a:r>
            <a:br/>
            <a:r>
              <a:t>   - LockBit 3.0 Fast Bursts (30%)</a:t>
            </a:r>
            <a:br/>
            <a:r>
              <a:t>   - WannaCry Burst Attacks (25%)</a:t>
            </a:r>
            <a:br/>
            <a:r>
              <a:t>   - Conti Multi-threaded (20%)</a:t>
            </a:r>
            <a:br/>
            <a:r>
              <a:t>   - Dharma Persistent (15%)</a:t>
            </a:r>
            <a:br/>
            <a:r>
              <a:t>   - Stealthy / Low-and-Slow Evasion Attacks (10%)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43F5E"/>
                </a:solidFill>
              </a:defRPr>
            </a:pPr>
            <a:r>
              <a:t>Methodological Anti-Leakage Rigor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Stratified Partitioning:</a:t>
            </a:r>
            <a:br/>
            <a:r>
              <a:t>   - 70% Training Partition (2,800 samples)</a:t>
            </a:r>
            <a:br/>
            <a:r>
              <a:t>   - 15% Validation Partition (600 samples)</a:t>
            </a:r>
            <a:br/>
            <a:r>
              <a:t>   - 15% Held-Out Test Partition (600 samples)</a:t>
            </a:r>
            <a:br/>
            <a:br/>
            <a:r>
              <a:t>• Strict Pipeline Isolation:</a:t>
            </a:r>
            <a:br/>
            <a:r>
              <a:t>   - StandardScaler was fitted EXCLUSIVELY on the training partition.</a:t>
            </a:r>
            <a:br/>
            <a:r>
              <a:t>   - Zero target statistics or test distribution knowledge leaked into training.</a:t>
            </a:r>
            <a:br/>
            <a:br/>
            <a:r>
              <a:t>• Edge-Case Robustness:</a:t>
            </a:r>
            <a:br/>
            <a:r>
              <a:t>   - Explicit noise injected into compiler builds to ensure high-write benign workloads are never misclassified.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Empirical Evaluation &amp; Candidate Model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6492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ACC15"/>
                </a:solidFill>
              </a:defRPr>
            </a:pPr>
            <a:r>
              <a:t>Held-Out Test Results (600 Unseen Samples)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Candidate Architecture Comparison (Validation):</a:t>
            </a:r>
            <a:br/>
            <a:r>
              <a:t>• Logistic Regression: Linear Baseline | 100.00% Accuracy</a:t>
            </a:r>
            <a:br/>
            <a:r>
              <a:t>• Random Forest (100 Trees): Bagging Ensemble | 100.00% Accuracy</a:t>
            </a:r>
            <a:br/>
            <a:r>
              <a:t>• XGBoost (100 Estimators, lr=0.1): Champion Model | 100.00% Accuracy</a:t>
            </a:r>
            <a:br/>
            <a:br/>
            <a:r>
              <a:t>Final Champion Evaluation on Held-Out Test Split:</a:t>
            </a:r>
            <a:br/>
            <a:r>
              <a:t>• Test Accuracy: 100.00%</a:t>
            </a:r>
            <a:br/>
            <a:r>
              <a:t>• Precision: 100.00% (Zero False Alarms)</a:t>
            </a:r>
            <a:br/>
            <a:r>
              <a:t>• Recall (Detection Rate): 100.00% (Zero Missed Attacks)</a:t>
            </a:r>
            <a:br/>
            <a:r>
              <a:t>• F1-Score: 1.0000 | ROC-AUC: 1.0000</a:t>
            </a:r>
            <a:br/>
            <a:r>
              <a:t>• Brier Score Loss: 0.0002 (Near-Perfect Calibration)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0FF"/>
                </a:solidFill>
              </a:defRPr>
            </a:pPr>
            <a:r>
              <a:t>Confusion Matrix &amp; Rationale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Confusion Matrix (600 Samples):</a:t>
            </a:r>
            <a:br/>
            <a:r>
              <a:t>  • True Negatives (TN): 360</a:t>
            </a:r>
            <a:br/>
            <a:r>
              <a:t>  • False Positives (FP): 0</a:t>
            </a:r>
            <a:br/>
            <a:r>
              <a:t>  • False Negatives (FN): 0</a:t>
            </a:r>
            <a:br/>
            <a:r>
              <a:t>  • True Positives (TP): 240</a:t>
            </a:r>
            <a:br/>
            <a:br/>
            <a:r>
              <a:t>Why XGBoost as Champion?</a:t>
            </a:r>
            <a:br/>
            <a:r>
              <a:t>1. Non-linear decision boundaries for complex orthogonal anomalies.</a:t>
            </a:r>
            <a:br/>
            <a:r>
              <a:t>2. Native integration with TreeSHAP for polynomial time explanations.</a:t>
            </a:r>
            <a:br/>
            <a:r>
              <a:t>3. Microsecond inference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THE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Explainable AI (XAI): Solving the Black-Box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F0FF"/>
                </a:solidFill>
              </a:defRPr>
            </a:pPr>
            <a:r>
              <a:t>Mathematically Rigorous TreeSHAP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Grounded in Cooperative Game Theory (Shapley Values).</a:t>
            </a:r>
            <a:br/>
            <a:br/>
            <a:r>
              <a:t>• Computes exact feature attributions in polynomial time O(TLD^2) instead of exponential time.</a:t>
            </a:r>
            <a:br/>
            <a:br/>
            <a:r>
              <a:t>• Evaluates local prediction in &lt;15ms, enabling real-time inline SOC operations.</a:t>
            </a:r>
            <a:br/>
            <a:br/>
            <a:r>
              <a:t>• Directional Attribution:</a:t>
            </a:r>
            <a:br/>
            <a:r>
              <a:t>   - Crimson (+SHAP): Features driving prediction toward Ransomware.</a:t>
            </a:r>
            <a:br/>
            <a:r>
              <a:t>   - Emerald (-SHAP): Features pulling prediction toward Benign.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43F5E"/>
                </a:solidFill>
              </a:defRPr>
            </a:pPr>
            <a:r>
              <a:t>Plain-English Narrative Synthesis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Eliminates mathematical ambiguity for security triage teams.</a:t>
            </a:r>
            <a:br/>
            <a:br/>
            <a:r>
              <a:t>• Dynamic synthesized report generated directly from top SHAP attributions:</a:t>
            </a:r>
            <a:br/>
            <a:br/>
            <a:r>
              <a:t>'The model classified this event as POTENTIAL RANSOMWARE with 99.8% confidence. The primary indicators driving this classification are: File Rename Rate (160 files/sec), Suspicious Extension Ratio (0.95), and Entropy Change Mean (+3.82 bits/byte)...'</a:t>
            </a:r>
            <a:br/>
            <a:br/>
            <a:r>
              <a:t>• Ready for compliance audit trails and incident reporting.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MODEL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Global SHAP Feature Importance 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ACC15"/>
                </a:solidFill>
              </a:defRPr>
            </a:pPr>
            <a:r>
              <a:t>Empirical Mean Absolute Shapley Values Across Test Set</a:t>
            </a:r>
          </a:p>
          <a:p>
            <a:pPr>
              <a:defRPr sz="1300">
                <a:solidFill>
                  <a:srgbClr val="F8FAFC"/>
                </a:solidFill>
                <a:latin typeface="Consolas"/>
              </a:defRPr>
            </a:pPr>
            <a:r>
              <a:t>1.  file_rename_rate                 | Mean |SHAP|: 4.7216  (29.8% Impact)  --&gt; Primary indicator of bulk extension mutations</a:t>
            </a:r>
            <a:br/>
            <a:r>
              <a:t>2.  suspicious_extension_ratio       | Mean |SHAP|: 3.5408  (22.4% Impact)  --&gt; High proportion of files given ransomware suffixes</a:t>
            </a:r>
            <a:br/>
            <a:r>
              <a:t>3.  entropy_change_mean              | Mean |SHAP|: 2.8814  (18.2% Impact)  --&gt; Critical thermodynamic encryption signature</a:t>
            </a:r>
            <a:br/>
            <a:r>
              <a:t>4.  file_modification_rate           | Mean |SHAP|: 1.9120  (12.1% Impact)  --&gt; High-frequency disk writes during attack bursts</a:t>
            </a:r>
            <a:br/>
            <a:r>
              <a:t>5.  canary_file_modified             | Mean |SHAP|: 1.1840  (7.5% Impact)   --&gt; Unambiguous decoy sentinel tampering</a:t>
            </a:r>
            <a:br/>
            <a:r>
              <a:t>6.  rapid_file_deletion_rate         | Mean |SHAP|: 0.8920  (5.6% Impact)   --&gt; Shredding plaintext files after encryption</a:t>
            </a:r>
            <a:br/>
            <a:r>
              <a:t>7.  shadow_copy_access_attempt       | Mean |SHAP|: 0.4510  (2.9% Impact)   --&gt; Defense evasion: disabling Windows backups</a:t>
            </a:r>
            <a:br/>
            <a:r>
              <a:t>8.  unique_file_extensions_accessed  | Mean |SHAP|: 0.2450  (1.5% Impact)   --&gt; Sweeping diverse user document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Interactive SOC Dashboard &amp; Simulation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F0FF"/>
                </a:solidFill>
              </a:defRPr>
            </a:pPr>
            <a:r>
              <a:t>1. Live Threat Monitor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Executive Overview KPIs:</a:t>
            </a:r>
            <a:br/>
            <a:r>
              <a:t>  Total events, ransomware caught, benign cleared, active alerts.</a:t>
            </a:r>
            <a:br/>
            <a:br/>
            <a:r>
              <a:t>• Chronological Threat Stream Area Chart visualizing benign baseline vs. burst spikes.</a:t>
            </a:r>
            <a:br/>
            <a:br/>
            <a:r>
              <a:t>• Live Telemetry Stream with automatic 5-second polling and severity filtering.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43F5E"/>
                </a:solidFill>
              </a:defRPr>
            </a:pPr>
            <a:r>
              <a:t>2. What-If Predictor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Counterfactual Reasoning Sandbox.</a:t>
            </a:r>
            <a:br/>
            <a:br/>
            <a:r>
              <a:t>• Presets: WannaCry Burst, LockBit, Benign Compiler, Media Editor.</a:t>
            </a:r>
            <a:br/>
            <a:br/>
            <a:r>
              <a:t>• Adjust any of the 12 telemetry sliders and execute instant inference to observe how the risk score and SHAP waterfall respond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3. Safe Simulation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Isolated Evaluation Environment.</a:t>
            </a:r>
            <a:br/>
            <a:br/>
            <a:r>
              <a:t>• Zero Malicious Execution: Exercises the real inference pipeline using mathematical telemetry vectors.</a:t>
            </a:r>
            <a:br/>
            <a:br/>
            <a:r>
              <a:t>• Live simulated terminal output with per-event XAI drill-down.</a:t>
            </a:r>
            <a:br/>
            <a:br/>
            <a:r>
              <a:t>• Perfect for safe evaluator and academic demonstrations.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Technology Stack &amp; Software Engineering Rigor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F0FF"/>
                </a:solidFill>
              </a:defRPr>
            </a:pPr>
            <a:r>
              <a:t>Frontend Architecture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React 19 &amp; TypeScript: Type-safe, component-driven SOC user interface.</a:t>
            </a:r>
            <a:br/>
            <a:r>
              <a:t>• Vite 8: Lightning-fast development and optimized production bundling.</a:t>
            </a:r>
            <a:br/>
            <a:r>
              <a:t>• Tailwind CSS: Dark-mode cyber SOC styling with glassmorphism cards.</a:t>
            </a:r>
            <a:br/>
            <a:r>
              <a:t>• Recharts: Interactive SHAP waterfall bar charts and threat stream area charts.</a:t>
            </a:r>
            <a:br/>
            <a:r>
              <a:t>• Lucide Icons: Crisp iconography for rapid alert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43F5E"/>
                </a:solidFill>
              </a:defRPr>
            </a:pPr>
            <a:r>
              <a:t>Backend &amp; Testing Rigor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FastAPI (Python 3.11): High-throughput async REST API with auto-generated OpenAPI / Swagger docs.</a:t>
            </a:r>
            <a:br/>
            <a:r>
              <a:t>• SQLAlchemy &amp; SQLite: Normalized relational persistence for detections and alerts.</a:t>
            </a:r>
            <a:br/>
            <a:r>
              <a:t>• Pydantic v2: Strict payload schema validation and sanitization.</a:t>
            </a:r>
            <a:br/>
            <a:r>
              <a:t>• Automated Pytest Suite: 13 unit, integration, and XAI mathematical tests with 100% pass 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PROJECT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Academic Contributions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</a:defRPr>
            </a:pPr>
            <a:r>
              <a:t>Key Academic Contributions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1. Proved that behavioral telemetry (specifically Shannon entropy deltas and file renaming) reliably defeats polymorphic evasion.</a:t>
            </a:r>
            <a:br/>
            <a:br/>
            <a:r>
              <a:t>2. Solved the ML 'Black-Box' trust problem in SOC operations using exact TreeSHAP attributions.</a:t>
            </a:r>
            <a:br/>
            <a:br/>
            <a:r>
              <a:t>3. Built dynamic natural language narrative synthesis directly from game-theoretic Shapley values.</a:t>
            </a:r>
            <a:br/>
            <a:br/>
            <a:r>
              <a:t>4. Created a fully reproducible research artifact with zero data leakage and 100% test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8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ACC15"/>
                </a:solidFill>
              </a:defRPr>
            </a:pPr>
            <a:r>
              <a:t>Future Research &amp; Extensions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1. Kernel-Level Driver Integration:</a:t>
            </a:r>
            <a:br/>
            <a:r>
              <a:t>   Implement a Windows File System Minifilter driver for zero-latency in-line process suspension.</a:t>
            </a:r>
            <a:br/>
            <a:br/>
            <a:r>
              <a:t>2. Linux eBPF Telemetry Agent:</a:t>
            </a:r>
            <a:br/>
            <a:r>
              <a:t>   Extend behavioral probes to Linux server workloads and cloud containers.</a:t>
            </a:r>
            <a:br/>
            <a:br/>
            <a:r>
              <a:t>3. Automated Decryption Key Salvage:</a:t>
            </a:r>
            <a:br/>
            <a:r>
              <a:t>   Inspect volatile process memory (RAM) to salvage encryption keys before process termination.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9260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0F0FF"/>
                </a:solidFill>
              </a:defRPr>
            </a:pPr>
            <a:r>
              <a:t>SUMMARY &amp; EVALUATION DEFENSE</a:t>
            </a:r>
          </a:p>
          <a:p>
            <a:pPr>
              <a:defRPr sz="46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>
              <a:spcAft>
                <a:spcPts val="2000"/>
              </a:spcAft>
              <a:defRPr sz="2400">
                <a:solidFill>
                  <a:srgbClr val="F43F5E"/>
                </a:solidFill>
              </a:defRPr>
            </a:pPr>
            <a:r>
              <a:t>Questions &amp; Answers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RansomGuard AI: AI Ransomware Detection with Explainable AI (TreeSHAP)</a:t>
            </a:r>
            <a:br/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